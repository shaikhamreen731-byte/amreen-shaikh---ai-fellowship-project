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2"/>
    <p:sldId id="258" r:id="rId3"/>
    <p:sldId id="259" r:id="rId4"/>
    <p:sldId id="260" r:id="rId5"/>
    <p:sldId id="261" r:id="rId6"/>
    <p:sldId id="262" r:id="rId7"/>
    <p:sldId id="263" r:id="rId8"/>
    <p:sldId id="264" r:id="rId9"/>
    <p:sldId id="265" r:id="rId10"/>
    <p:sldId id="266" r:id="rId11"/>
    <p:sldId id="268"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p15:clr>
            <a:srgbClr val="A4A3A4"/>
          </p15:clr>
        </p15:guide>
        <p15:guide id="2" orient="horz" pos="852">
          <p15:clr>
            <a:srgbClr val="A4A3A4"/>
          </p15:clr>
        </p15:guide>
        <p15:guide id="3" pos="14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230"/>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4357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9" name="Slide Image Placeholder 1"/>
          <p:cNvSpPr>
            <a:spLocks noGrp="1" noRot="1" noChangeAspect="1"/>
          </p:cNvSpPr>
          <p:nvPr>
            <p:ph type="sldImg"/>
          </p:nvPr>
        </p:nvSpPr>
        <p:spPr>
          <a:xfrm>
            <a:off x="381000" y="685800"/>
            <a:ext cx="6096000" cy="3429000"/>
          </a:xfrm>
        </p:spPr>
        <p:txBody>
          <a:bodyPr/>
          <a:lstStyle/>
          <a:p>
            <a:endParaRPr lang="en-IN"/>
          </a:p>
        </p:txBody>
      </p:sp>
      <p:sp>
        <p:nvSpPr>
          <p:cNvPr id="1048690" name="Notes Placeholder 2"/>
          <p:cNvSpPr>
            <a:spLocks noGrp="1"/>
          </p:cNvSpPr>
          <p:nvPr>
            <p:ph type="body" idx="1"/>
          </p:nvPr>
        </p:nvSpPr>
        <p:spPr/>
        <p:txBody>
          <a:bodyPr/>
          <a:lstStyle/>
          <a:p>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Slide Image Placeholder 1"/>
          <p:cNvSpPr>
            <a:spLocks noGrp="1" noRot="1" noChangeAspect="1"/>
          </p:cNvSpPr>
          <p:nvPr>
            <p:ph type="sldImg"/>
          </p:nvPr>
        </p:nvSpPr>
        <p:spPr/>
        <p:txBody>
          <a:bodyPr/>
          <a:lstStyle/>
          <a:p>
            <a:endParaRPr lang="en-IN"/>
          </a:p>
        </p:txBody>
      </p:sp>
      <p:sp>
        <p:nvSpPr>
          <p:cNvPr id="1048694" name="Notes Placeholder 2"/>
          <p:cNvSpPr>
            <a:spLocks noGrp="1"/>
          </p:cNvSpPr>
          <p:nvPr>
            <p:ph type="body" idx="1"/>
          </p:nvPr>
        </p:nvSpPr>
        <p:spPr/>
        <p:txBody>
          <a:bodyPr/>
          <a:lstStyle/>
          <a:p>
            <a:endParaRPr lang="en-US" dirty="0"/>
          </a:p>
        </p:txBody>
      </p:sp>
      <p:sp>
        <p:nvSpPr>
          <p:cNvPr id="1048695"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Slide Image Placeholder 1"/>
          <p:cNvSpPr>
            <a:spLocks noGrp="1" noRot="1" noChangeAspect="1"/>
          </p:cNvSpPr>
          <p:nvPr>
            <p:ph type="sldImg"/>
          </p:nvPr>
        </p:nvSpPr>
        <p:spPr/>
        <p:txBody>
          <a:bodyPr/>
          <a:lstStyle/>
          <a:p>
            <a:endParaRPr lang="en-IN"/>
          </a:p>
        </p:txBody>
      </p:sp>
      <p:sp>
        <p:nvSpPr>
          <p:cNvPr id="1048653" name="Notes Placeholder 2"/>
          <p:cNvSpPr>
            <a:spLocks noGrp="1"/>
          </p:cNvSpPr>
          <p:nvPr>
            <p:ph type="body" idx="1"/>
          </p:nvPr>
        </p:nvSpPr>
        <p:spPr/>
        <p:txBody>
          <a:bodyPr/>
          <a:lstStyle/>
          <a:p>
            <a:endParaRPr lang="en-US" dirty="0"/>
          </a:p>
        </p:txBody>
      </p:sp>
      <p:sp>
        <p:nvSpPr>
          <p:cNvPr id="104865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0" name="Slide Image Placeholder 1"/>
          <p:cNvSpPr>
            <a:spLocks noGrp="1" noRot="1" noChangeAspect="1"/>
          </p:cNvSpPr>
          <p:nvPr>
            <p:ph type="sldImg"/>
          </p:nvPr>
        </p:nvSpPr>
        <p:spPr/>
        <p:txBody>
          <a:bodyPr/>
          <a:lstStyle/>
          <a:p>
            <a:endParaRPr lang="en-IN"/>
          </a:p>
        </p:txBody>
      </p:sp>
      <p:sp>
        <p:nvSpPr>
          <p:cNvPr id="1048641" name="Notes Placeholder 2"/>
          <p:cNvSpPr>
            <a:spLocks noGrp="1"/>
          </p:cNvSpPr>
          <p:nvPr>
            <p:ph type="body" idx="1"/>
          </p:nvPr>
        </p:nvSpPr>
        <p:spPr/>
        <p:txBody>
          <a:bodyPr/>
          <a:lstStyle/>
          <a:p>
            <a:endParaRPr lang="en-US" dirty="0"/>
          </a:p>
        </p:txBody>
      </p:sp>
      <p:sp>
        <p:nvSpPr>
          <p:cNvPr id="1048642"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Slide Image Placeholder 1"/>
          <p:cNvSpPr>
            <a:spLocks noGrp="1" noRot="1" noChangeAspect="1"/>
          </p:cNvSpPr>
          <p:nvPr>
            <p:ph type="sldImg"/>
          </p:nvPr>
        </p:nvSpPr>
        <p:spPr/>
        <p:txBody>
          <a:bodyPr/>
          <a:lstStyle/>
          <a:p>
            <a:endParaRPr lang="en-IN"/>
          </a:p>
        </p:txBody>
      </p:sp>
      <p:sp>
        <p:nvSpPr>
          <p:cNvPr id="1048622" name="Notes Placeholder 2"/>
          <p:cNvSpPr>
            <a:spLocks noGrp="1"/>
          </p:cNvSpPr>
          <p:nvPr>
            <p:ph type="body" idx="1"/>
          </p:nvPr>
        </p:nvSpPr>
        <p:spPr/>
        <p:txBody>
          <a:bodyPr/>
          <a:lstStyle/>
          <a:p>
            <a:endParaRPr lang="en-US" dirty="0"/>
          </a:p>
        </p:txBody>
      </p:sp>
      <p:sp>
        <p:nvSpPr>
          <p:cNvPr id="1048623"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Slide Image Placeholder 1"/>
          <p:cNvSpPr>
            <a:spLocks noGrp="1" noRot="1" noChangeAspect="1"/>
          </p:cNvSpPr>
          <p:nvPr>
            <p:ph type="sldImg"/>
          </p:nvPr>
        </p:nvSpPr>
        <p:spPr/>
        <p:txBody>
          <a:bodyPr/>
          <a:lstStyle/>
          <a:p>
            <a:endParaRPr lang="en-IN"/>
          </a:p>
        </p:txBody>
      </p:sp>
      <p:sp>
        <p:nvSpPr>
          <p:cNvPr id="1048598" name="Notes Placeholder 2"/>
          <p:cNvSpPr>
            <a:spLocks noGrp="1"/>
          </p:cNvSpPr>
          <p:nvPr>
            <p:ph type="body" idx="1"/>
          </p:nvPr>
        </p:nvSpPr>
        <p:spPr/>
        <p:txBody>
          <a:bodyPr/>
          <a:lstStyle/>
          <a:p>
            <a:endParaRPr lang="en-US" dirty="0"/>
          </a:p>
        </p:txBody>
      </p:sp>
      <p:sp>
        <p:nvSpPr>
          <p:cNvPr id="1048599"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Slide Image Placeholder 1"/>
          <p:cNvSpPr>
            <a:spLocks noGrp="1" noRot="1" noChangeAspect="1"/>
          </p:cNvSpPr>
          <p:nvPr>
            <p:ph type="sldImg"/>
          </p:nvPr>
        </p:nvSpPr>
        <p:spPr/>
        <p:txBody>
          <a:bodyPr/>
          <a:lstStyle/>
          <a:p>
            <a:endParaRPr lang="en-IN"/>
          </a:p>
        </p:txBody>
      </p:sp>
      <p:sp>
        <p:nvSpPr>
          <p:cNvPr id="1048616" name="Notes Placeholder 2"/>
          <p:cNvSpPr>
            <a:spLocks noGrp="1"/>
          </p:cNvSpPr>
          <p:nvPr>
            <p:ph type="body" idx="1"/>
          </p:nvPr>
        </p:nvSpPr>
        <p:spPr/>
        <p:txBody>
          <a:bodyPr/>
          <a:lstStyle/>
          <a:p>
            <a:endParaRPr lang="en-US" dirty="0"/>
          </a:p>
        </p:txBody>
      </p:sp>
      <p:sp>
        <p:nvSpPr>
          <p:cNvPr id="1048617"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Slide Image Placeholder 1"/>
          <p:cNvSpPr>
            <a:spLocks noGrp="1" noRot="1" noChangeAspect="1"/>
          </p:cNvSpPr>
          <p:nvPr>
            <p:ph type="sldImg"/>
          </p:nvPr>
        </p:nvSpPr>
        <p:spPr/>
        <p:txBody>
          <a:bodyPr/>
          <a:lstStyle/>
          <a:p>
            <a:endParaRPr lang="en-IN"/>
          </a:p>
        </p:txBody>
      </p:sp>
      <p:sp>
        <p:nvSpPr>
          <p:cNvPr id="1048636" name="Notes Placeholder 2"/>
          <p:cNvSpPr>
            <a:spLocks noGrp="1"/>
          </p:cNvSpPr>
          <p:nvPr>
            <p:ph type="body" idx="1"/>
          </p:nvPr>
        </p:nvSpPr>
        <p:spPr/>
        <p:txBody>
          <a:bodyPr/>
          <a:lstStyle/>
          <a:p>
            <a:endParaRPr lang="en-US" dirty="0"/>
          </a:p>
        </p:txBody>
      </p:sp>
      <p:sp>
        <p:nvSpPr>
          <p:cNvPr id="1048637"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Slide Image Placeholder 1"/>
          <p:cNvSpPr>
            <a:spLocks noGrp="1" noRot="1" noChangeAspect="1"/>
          </p:cNvSpPr>
          <p:nvPr>
            <p:ph type="sldImg"/>
          </p:nvPr>
        </p:nvSpPr>
        <p:spPr/>
        <p:txBody>
          <a:bodyPr/>
          <a:lstStyle/>
          <a:p>
            <a:endParaRPr lang="en-IN"/>
          </a:p>
        </p:txBody>
      </p:sp>
      <p:sp>
        <p:nvSpPr>
          <p:cNvPr id="1048647" name="Notes Placeholder 2"/>
          <p:cNvSpPr>
            <a:spLocks noGrp="1"/>
          </p:cNvSpPr>
          <p:nvPr>
            <p:ph type="body" idx="1"/>
          </p:nvPr>
        </p:nvSpPr>
        <p:spPr/>
        <p:txBody>
          <a:bodyPr/>
          <a:lstStyle/>
          <a:p>
            <a:endParaRPr lang="en-US" dirty="0"/>
          </a:p>
        </p:txBody>
      </p:sp>
      <p:sp>
        <p:nvSpPr>
          <p:cNvPr id="1048648"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8" name="Slide Image Placeholder 1"/>
          <p:cNvSpPr>
            <a:spLocks noGrp="1" noRot="1" noChangeAspect="1"/>
          </p:cNvSpPr>
          <p:nvPr>
            <p:ph type="sldImg"/>
          </p:nvPr>
        </p:nvSpPr>
        <p:spPr/>
        <p:txBody>
          <a:bodyPr/>
          <a:lstStyle/>
          <a:p>
            <a:endParaRPr lang="en-IN"/>
          </a:p>
        </p:txBody>
      </p:sp>
      <p:sp>
        <p:nvSpPr>
          <p:cNvPr id="1048699" name="Notes Placeholder 2"/>
          <p:cNvSpPr>
            <a:spLocks noGrp="1"/>
          </p:cNvSpPr>
          <p:nvPr>
            <p:ph type="body" idx="1"/>
          </p:nvPr>
        </p:nvSpPr>
        <p:spPr/>
        <p:txBody>
          <a:bodyPr/>
          <a:lstStyle/>
          <a:p>
            <a:endParaRPr lang="en-US" dirty="0"/>
          </a:p>
        </p:txBody>
      </p:sp>
      <p:sp>
        <p:nvSpPr>
          <p:cNvPr id="1048700"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4" name="Slide Image Placeholder 1"/>
          <p:cNvSpPr>
            <a:spLocks noGrp="1" noRot="1" noChangeAspect="1"/>
          </p:cNvSpPr>
          <p:nvPr>
            <p:ph type="sldImg"/>
          </p:nvPr>
        </p:nvSpPr>
        <p:spPr/>
        <p:txBody>
          <a:bodyPr/>
          <a:lstStyle/>
          <a:p>
            <a:endParaRPr lang="en-IN"/>
          </a:p>
        </p:txBody>
      </p:sp>
      <p:sp>
        <p:nvSpPr>
          <p:cNvPr id="1048705" name="Notes Placeholder 2"/>
          <p:cNvSpPr>
            <a:spLocks noGrp="1"/>
          </p:cNvSpPr>
          <p:nvPr>
            <p:ph type="body" idx="1"/>
          </p:nvPr>
        </p:nvSpPr>
        <p:spPr/>
        <p:txBody>
          <a:bodyPr/>
          <a:lstStyle/>
          <a:p>
            <a:endParaRPr lang="en-US" dirty="0"/>
          </a:p>
        </p:txBody>
      </p:sp>
      <p:sp>
        <p:nvSpPr>
          <p:cNvPr id="1048706"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3" name="Group 8"/>
          <p:cNvGrpSpPr/>
          <p:nvPr userDrawn="1"/>
        </p:nvGrpSpPr>
        <p:grpSpPr>
          <a:xfrm flipH="1">
            <a:off x="0" y="5036127"/>
            <a:ext cx="9144000" cy="107373"/>
            <a:chOff x="0" y="0"/>
            <a:chExt cx="4402382" cy="66464"/>
          </a:xfrm>
        </p:grpSpPr>
        <p:sp>
          <p:nvSpPr>
            <p:cNvPr id="1048576" name="Freeform 9"/>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1048577" name="TextBox 10"/>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14" name="Group 8"/>
          <p:cNvGrpSpPr/>
          <p:nvPr userDrawn="1"/>
        </p:nvGrpSpPr>
        <p:grpSpPr>
          <a:xfrm>
            <a:off x="0" y="0"/>
            <a:ext cx="9144000" cy="424206"/>
            <a:chOff x="0" y="0"/>
            <a:chExt cx="4402382" cy="66464"/>
          </a:xfrm>
        </p:grpSpPr>
        <p:sp>
          <p:nvSpPr>
            <p:cNvPr id="1048578" name="Freeform 9"/>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1048579" name="TextBox 10"/>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2097152" name="Picture 7" descr="A black and white logo  AI-generated content may be incorrect."/>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Rectangle: Rounded Corners 74"/>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2" name="Group 2"/>
          <p:cNvGrpSpPr/>
          <p:nvPr/>
        </p:nvGrpSpPr>
        <p:grpSpPr>
          <a:xfrm>
            <a:off x="0" y="0"/>
            <a:ext cx="4153368" cy="126178"/>
            <a:chOff x="0" y="0"/>
            <a:chExt cx="2187782" cy="66464"/>
          </a:xfrm>
        </p:grpSpPr>
        <p:sp>
          <p:nvSpPr>
            <p:cNvPr id="1048656" name="Freeform 3"/>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48657" name="TextBox 4"/>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43" name="Group 5"/>
          <p:cNvGrpSpPr/>
          <p:nvPr/>
        </p:nvGrpSpPr>
        <p:grpSpPr>
          <a:xfrm>
            <a:off x="0" y="5017322"/>
            <a:ext cx="7571294" cy="126178"/>
            <a:chOff x="0" y="0"/>
            <a:chExt cx="3988171" cy="66464"/>
          </a:xfrm>
        </p:grpSpPr>
        <p:sp>
          <p:nvSpPr>
            <p:cNvPr id="1048658" name="Freeform 6"/>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48659" name="TextBox 7"/>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44" name="Group 8"/>
          <p:cNvGrpSpPr/>
          <p:nvPr/>
        </p:nvGrpSpPr>
        <p:grpSpPr>
          <a:xfrm rot="2700000">
            <a:off x="3661769" y="-528997"/>
            <a:ext cx="4602320" cy="2123257"/>
            <a:chOff x="0" y="0"/>
            <a:chExt cx="2424267" cy="1118423"/>
          </a:xfrm>
        </p:grpSpPr>
        <p:sp>
          <p:nvSpPr>
            <p:cNvPr id="1048660" name="Freeform 9"/>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48661" name="TextBox 10"/>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45" name="Group 11"/>
          <p:cNvGrpSpPr/>
          <p:nvPr/>
        </p:nvGrpSpPr>
        <p:grpSpPr>
          <a:xfrm rot="2700000">
            <a:off x="5632358" y="303921"/>
            <a:ext cx="3724082" cy="1064394"/>
            <a:chOff x="0" y="0"/>
            <a:chExt cx="1961656" cy="560668"/>
          </a:xfrm>
        </p:grpSpPr>
        <p:sp>
          <p:nvSpPr>
            <p:cNvPr id="1048662" name="Freeform 12"/>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48663" name="TextBox 13"/>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46" name="Group 14"/>
          <p:cNvGrpSpPr/>
          <p:nvPr/>
        </p:nvGrpSpPr>
        <p:grpSpPr>
          <a:xfrm rot="2700000">
            <a:off x="7528217" y="-892816"/>
            <a:ext cx="2873959" cy="1967021"/>
            <a:chOff x="0" y="0"/>
            <a:chExt cx="1513855" cy="1036126"/>
          </a:xfrm>
        </p:grpSpPr>
        <p:sp>
          <p:nvSpPr>
            <p:cNvPr id="1048664" name="Freeform 15"/>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48665" name="TextBox 16"/>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47" name="Group 17"/>
          <p:cNvGrpSpPr/>
          <p:nvPr/>
        </p:nvGrpSpPr>
        <p:grpSpPr>
          <a:xfrm rot="2700000">
            <a:off x="6756840" y="4003698"/>
            <a:ext cx="4602320" cy="2123257"/>
            <a:chOff x="0" y="0"/>
            <a:chExt cx="2424267" cy="1118423"/>
          </a:xfrm>
        </p:grpSpPr>
        <p:sp>
          <p:nvSpPr>
            <p:cNvPr id="1048666" name="Freeform 18"/>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48667" name="TextBox 19"/>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48" name="Group 20"/>
          <p:cNvGrpSpPr/>
          <p:nvPr/>
        </p:nvGrpSpPr>
        <p:grpSpPr>
          <a:xfrm rot="2700000">
            <a:off x="7842195" y="3672519"/>
            <a:ext cx="2166949" cy="1126189"/>
            <a:chOff x="0" y="0"/>
            <a:chExt cx="1141438" cy="593219"/>
          </a:xfrm>
        </p:grpSpPr>
        <p:sp>
          <p:nvSpPr>
            <p:cNvPr id="1048668" name="Freeform 21"/>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48669" name="TextBox 22"/>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49" name="Group 23"/>
          <p:cNvGrpSpPr/>
          <p:nvPr/>
        </p:nvGrpSpPr>
        <p:grpSpPr>
          <a:xfrm>
            <a:off x="5720497" y="768985"/>
            <a:ext cx="3475712" cy="3475712"/>
            <a:chOff x="0" y="0"/>
            <a:chExt cx="812800" cy="812800"/>
          </a:xfrm>
        </p:grpSpPr>
        <p:sp>
          <p:nvSpPr>
            <p:cNvPr id="1048670" name="Freeform 24"/>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1048671" name="TextBox 25"/>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1048672" name="Freeform 34"/>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stretch>
              <a:fillRect/>
            </a:stretch>
          </a:blipFill>
        </p:spPr>
        <p:txBody>
          <a:bodyPr/>
          <a:lstStyle/>
          <a:p>
            <a:endParaRPr lang="en-IN" sz="700"/>
          </a:p>
        </p:txBody>
      </p:sp>
      <p:sp>
        <p:nvSpPr>
          <p:cNvPr id="1048673" name="Freeform 35"/>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stretch>
              <a:fillRect/>
            </a:stretch>
          </a:blipFill>
        </p:spPr>
        <p:txBody>
          <a:bodyPr/>
          <a:lstStyle/>
          <a:p>
            <a:endParaRPr lang="en-IN" sz="700"/>
          </a:p>
        </p:txBody>
      </p:sp>
      <p:sp>
        <p:nvSpPr>
          <p:cNvPr id="1048674" name="Freeform 36"/>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stretch>
              <a:fillRect/>
            </a:stretch>
          </a:blipFill>
        </p:spPr>
        <p:txBody>
          <a:bodyPr/>
          <a:lstStyle/>
          <a:p>
            <a:endParaRPr lang="en-IN" sz="700"/>
          </a:p>
        </p:txBody>
      </p:sp>
      <p:grpSp>
        <p:nvGrpSpPr>
          <p:cNvPr id="50" name="Group 46"/>
          <p:cNvGrpSpPr/>
          <p:nvPr/>
        </p:nvGrpSpPr>
        <p:grpSpPr>
          <a:xfrm>
            <a:off x="-19007" y="2928677"/>
            <a:ext cx="4276134" cy="431080"/>
            <a:chOff x="0" y="2985846"/>
            <a:chExt cx="4276134" cy="431080"/>
          </a:xfrm>
        </p:grpSpPr>
        <p:grpSp>
          <p:nvGrpSpPr>
            <p:cNvPr id="51" name="Group 28"/>
            <p:cNvGrpSpPr/>
            <p:nvPr/>
          </p:nvGrpSpPr>
          <p:grpSpPr>
            <a:xfrm>
              <a:off x="0" y="2985846"/>
              <a:ext cx="4224335" cy="431080"/>
              <a:chOff x="0" y="-38100"/>
              <a:chExt cx="4355842" cy="444500"/>
            </a:xfrm>
          </p:grpSpPr>
          <p:sp>
            <p:nvSpPr>
              <p:cNvPr id="1048675" name="Freeform 29"/>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48676" name="TextBox 30"/>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1048677" name="TextBox 44"/>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1048678" name="TextBox 40"/>
          <p:cNvSpPr txBox="1"/>
          <p:nvPr/>
        </p:nvSpPr>
        <p:spPr>
          <a:xfrm>
            <a:off x="2302781" y="4344678"/>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1048679" name="TextBox 42"/>
          <p:cNvSpPr txBox="1"/>
          <p:nvPr/>
        </p:nvSpPr>
        <p:spPr>
          <a:xfrm>
            <a:off x="2302779" y="4471625"/>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Amreen Shaikh</a:t>
            </a:r>
          </a:p>
        </p:txBody>
      </p:sp>
      <p:pic>
        <p:nvPicPr>
          <p:cNvPr id="2097156" name="Picture 49" descr="A blue circle with a person and a envelope in it  AI-generated content may be incorrect."/>
          <p:cNvPicPr>
            <a:picLocks noChangeAspect="1"/>
          </p:cNvPicPr>
          <p:nvPr/>
        </p:nvPicPr>
        <p:blipFill>
          <a:blip r:embed="rId5"/>
          <a:srcRect l="26757" t="2453" r="27842" b="53701"/>
          <a:stretch>
            <a:fillRect/>
          </a:stretch>
        </p:blipFill>
        <p:spPr>
          <a:xfrm>
            <a:off x="1879018" y="4336133"/>
            <a:ext cx="395331" cy="381795"/>
          </a:xfrm>
          <a:prstGeom prst="rect">
            <a:avLst/>
          </a:prstGeom>
        </p:spPr>
      </p:pic>
      <p:sp>
        <p:nvSpPr>
          <p:cNvPr id="1048680" name="TextBox 41"/>
          <p:cNvSpPr txBox="1"/>
          <p:nvPr/>
        </p:nvSpPr>
        <p:spPr>
          <a:xfrm>
            <a:off x="3924234" y="4279537"/>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1048681" name="TextBox 43"/>
          <p:cNvSpPr txBox="1"/>
          <p:nvPr/>
        </p:nvSpPr>
        <p:spPr>
          <a:xfrm>
            <a:off x="3945013" y="4413410"/>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shaikhamreen731@gmail.com</a:t>
            </a:r>
          </a:p>
        </p:txBody>
      </p:sp>
      <p:pic>
        <p:nvPicPr>
          <p:cNvPr id="2097157" name="Picture 50" descr="A blue circle with a person and a envelope in it  AI-generated content may be incorrect."/>
          <p:cNvPicPr>
            <a:picLocks noChangeAspect="1"/>
          </p:cNvPicPr>
          <p:nvPr/>
        </p:nvPicPr>
        <p:blipFill>
          <a:blip r:embed="rId5"/>
          <a:srcRect l="26859" t="52379" r="26874" b="2349"/>
          <a:stretch>
            <a:fillRect/>
          </a:stretch>
        </p:blipFill>
        <p:spPr>
          <a:xfrm>
            <a:off x="3523298" y="4318413"/>
            <a:ext cx="398279" cy="389719"/>
          </a:xfrm>
          <a:prstGeom prst="rect">
            <a:avLst/>
          </a:prstGeom>
        </p:spPr>
      </p:pic>
      <p:grpSp>
        <p:nvGrpSpPr>
          <p:cNvPr id="52" name="Group 65"/>
          <p:cNvGrpSpPr/>
          <p:nvPr/>
        </p:nvGrpSpPr>
        <p:grpSpPr>
          <a:xfrm>
            <a:off x="553855" y="4317190"/>
            <a:ext cx="2272871" cy="429783"/>
            <a:chOff x="2833095" y="4275396"/>
            <a:chExt cx="2272871" cy="429783"/>
          </a:xfrm>
        </p:grpSpPr>
        <p:sp>
          <p:nvSpPr>
            <p:cNvPr id="1048682" name="TextBox 41"/>
            <p:cNvSpPr txBox="1"/>
            <p:nvPr/>
          </p:nvSpPr>
          <p:spPr>
            <a:xfrm>
              <a:off x="2833914" y="4275396"/>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1048683" name="TextBox 43"/>
            <p:cNvSpPr txBox="1"/>
            <p:nvPr/>
          </p:nvSpPr>
          <p:spPr>
            <a:xfrm>
              <a:off x="2833095" y="4448699"/>
              <a:ext cx="2272871" cy="256480"/>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Umamaheswari</a:t>
              </a:r>
            </a:p>
          </p:txBody>
        </p:sp>
      </p:grpSp>
      <p:pic>
        <p:nvPicPr>
          <p:cNvPr id="2097158" name="Picture 70"/>
          <p:cNvPicPr>
            <a:picLocks noChangeAspect="1"/>
          </p:cNvPicPr>
          <p:nvPr/>
        </p:nvPicPr>
        <p:blipFill>
          <a:blip r:embed="rId6"/>
          <a:srcRect l="28109" t="6546" r="28551" b="49509"/>
          <a:stretch>
            <a:fillRect/>
          </a:stretch>
        </p:blipFill>
        <p:spPr>
          <a:xfrm>
            <a:off x="178859" y="4308355"/>
            <a:ext cx="375815" cy="381063"/>
          </a:xfrm>
          <a:prstGeom prst="rect">
            <a:avLst/>
          </a:prstGeom>
        </p:spPr>
      </p:pic>
      <p:grpSp>
        <p:nvGrpSpPr>
          <p:cNvPr id="53" name="Group 48"/>
          <p:cNvGrpSpPr/>
          <p:nvPr/>
        </p:nvGrpSpPr>
        <p:grpSpPr>
          <a:xfrm>
            <a:off x="640733" y="769747"/>
            <a:ext cx="3051630" cy="258616"/>
            <a:chOff x="1068621" y="826472"/>
            <a:chExt cx="2166264" cy="183584"/>
          </a:xfrm>
        </p:grpSpPr>
        <p:pic>
          <p:nvPicPr>
            <p:cNvPr id="2097159" name="Picture 54" descr="A blue and black logo  AI-generated content may be incorrect."/>
            <p:cNvPicPr>
              <a:picLocks noChangeAspect="1"/>
            </p:cNvPicPr>
            <p:nvPr/>
          </p:nvPicPr>
          <p:blipFill>
            <a:blip r:embed="rId7"/>
            <a:stretch>
              <a:fillRect/>
            </a:stretch>
          </p:blipFill>
          <p:spPr>
            <a:xfrm>
              <a:off x="1068621" y="826472"/>
              <a:ext cx="632879" cy="158848"/>
            </a:xfrm>
            <a:prstGeom prst="rect">
              <a:avLst/>
            </a:prstGeom>
          </p:spPr>
        </p:pic>
        <p:pic>
          <p:nvPicPr>
            <p:cNvPr id="2097160" name="Picture 56" descr="A close up of a logo  AI-generated content may be incorrect."/>
            <p:cNvPicPr>
              <a:picLocks noChangeAspect="1"/>
            </p:cNvPicPr>
            <p:nvPr/>
          </p:nvPicPr>
          <p:blipFill>
            <a:blip r:embed="rId8"/>
            <a:stretch>
              <a:fillRect/>
            </a:stretch>
          </p:blipFill>
          <p:spPr>
            <a:xfrm>
              <a:off x="2670437" y="826472"/>
              <a:ext cx="564448" cy="183584"/>
            </a:xfrm>
            <a:prstGeom prst="rect">
              <a:avLst/>
            </a:prstGeom>
          </p:spPr>
        </p:pic>
      </p:grpSp>
      <p:sp>
        <p:nvSpPr>
          <p:cNvPr id="1048684" name="Shape 7"/>
          <p:cNvSpPr/>
          <p:nvPr/>
        </p:nvSpPr>
        <p:spPr>
          <a:xfrm rot="18195971">
            <a:off x="5802826" y="2309413"/>
            <a:ext cx="2834640" cy="109728"/>
          </a:xfrm>
          <a:prstGeom prst="rect">
            <a:avLst/>
          </a:prstGeom>
          <a:solidFill>
            <a:srgbClr val="4FC3F7"/>
          </a:solidFill>
        </p:spPr>
        <p:txBody>
          <a:bodyPr/>
          <a:lstStyle/>
          <a:p>
            <a:endParaRPr lang="en-IN"/>
          </a:p>
        </p:txBody>
      </p:sp>
      <p:sp>
        <p:nvSpPr>
          <p:cNvPr id="1048685" name="Shape 8"/>
          <p:cNvSpPr/>
          <p:nvPr/>
        </p:nvSpPr>
        <p:spPr>
          <a:xfrm rot="18195971">
            <a:off x="6146363" y="2413708"/>
            <a:ext cx="2468880" cy="109728"/>
          </a:xfrm>
          <a:prstGeom prst="rect">
            <a:avLst/>
          </a:prstGeom>
          <a:solidFill>
            <a:srgbClr val="4FC3F7"/>
          </a:solidFill>
        </p:spPr>
        <p:txBody>
          <a:bodyPr/>
          <a:lstStyle/>
          <a:p>
            <a:endParaRPr lang="en-IN"/>
          </a:p>
        </p:txBody>
      </p:sp>
      <p:sp>
        <p:nvSpPr>
          <p:cNvPr id="1048686" name="Shape 9"/>
          <p:cNvSpPr/>
          <p:nvPr/>
        </p:nvSpPr>
        <p:spPr>
          <a:xfrm rot="18195971">
            <a:off x="6482126" y="2528680"/>
            <a:ext cx="2103120" cy="109728"/>
          </a:xfrm>
          <a:prstGeom prst="rect">
            <a:avLst/>
          </a:prstGeom>
          <a:solidFill>
            <a:srgbClr val="4FC3F7"/>
          </a:solidFill>
        </p:spPr>
        <p:txBody>
          <a:bodyPr/>
          <a:lstStyle/>
          <a:p>
            <a:endParaRPr lang="en-IN"/>
          </a:p>
        </p:txBody>
      </p:sp>
      <p:sp>
        <p:nvSpPr>
          <p:cNvPr id="1048687" name="Shape 9"/>
          <p:cNvSpPr/>
          <p:nvPr/>
        </p:nvSpPr>
        <p:spPr>
          <a:xfrm rot="18195971">
            <a:off x="6735713" y="2647223"/>
            <a:ext cx="1872046" cy="116269"/>
          </a:xfrm>
          <a:prstGeom prst="rect">
            <a:avLst/>
          </a:prstGeom>
          <a:solidFill>
            <a:srgbClr val="4FC3F7"/>
          </a:solidFill>
        </p:spPr>
        <p:txBody>
          <a:bodyPr/>
          <a:lstStyle/>
          <a:p>
            <a:endParaRPr lang="en-IN"/>
          </a:p>
        </p:txBody>
      </p:sp>
      <p:pic>
        <p:nvPicPr>
          <p:cNvPr id="2097161" name="Picture 45"/>
          <p:cNvPicPr>
            <a:picLocks noChangeAspect="1"/>
          </p:cNvPicPr>
          <p:nvPr/>
        </p:nvPicPr>
        <p:blipFill>
          <a:blip r:embed="rId9"/>
          <a:srcRect b="19729"/>
          <a:stretch>
            <a:fillRect/>
          </a:stretch>
        </p:blipFill>
        <p:spPr>
          <a:xfrm>
            <a:off x="173754" y="1046557"/>
            <a:ext cx="3854253" cy="1849530"/>
          </a:xfrm>
          <a:prstGeom prst="rect">
            <a:avLst/>
          </a:prstGeom>
        </p:spPr>
      </p:pic>
      <p:sp>
        <p:nvSpPr>
          <p:cNvPr id="1048688" name="TextBox 26"/>
          <p:cNvSpPr txBox="1"/>
          <p:nvPr/>
        </p:nvSpPr>
        <p:spPr>
          <a:xfrm>
            <a:off x="68461" y="3462539"/>
            <a:ext cx="5447162" cy="358139"/>
          </a:xfrm>
          <a:prstGeom prst="rect">
            <a:avLst/>
          </a:prstGeom>
          <a:noFill/>
        </p:spPr>
        <p:txBody>
          <a:bodyPr wrap="square">
            <a:spAutoFit/>
          </a:bodyPr>
          <a:lstStyle/>
          <a:p>
            <a:pPr algn="ctr">
              <a:spcBef>
                <a:spcPts val="400"/>
              </a:spcBef>
              <a:spcAft>
                <a:spcPts val="400"/>
              </a:spcAft>
              <a:buNone/>
            </a:pPr>
            <a:r>
              <a:rPr lang="en-US" altLang="en-GB" sz="1800" b="1" dirty="0">
                <a:solidFill>
                  <a:srgbClr val="1B3A8A"/>
                </a:solidFill>
                <a:effectLst/>
                <a:latin typeface="Arial" panose="020B0604020202020204" pitchFamily="34" charset="0"/>
                <a:ea typeface="Arial" panose="020B0604020202020204" pitchFamily="34" charset="0"/>
              </a:rPr>
              <a:t>Social Media Engagement Analysis </a:t>
            </a:r>
            <a:endParaRPr lang="en-IN" sz="1050" dirty="0">
              <a:effectLst/>
              <a:latin typeface="Arial" panose="020B0604020202020204" pitchFamily="34" charset="0"/>
              <a:ea typeface="Arial" panose="020B0604020202020204" pitchFamily="34"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1048691" name="Text 2"/>
          <p:cNvSpPr/>
          <p:nvPr/>
        </p:nvSpPr>
        <p:spPr>
          <a:xfrm>
            <a:off x="130350" y="610217"/>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1048692" name="TextBox 23"/>
          <p:cNvSpPr txBox="1"/>
          <p:nvPr/>
        </p:nvSpPr>
        <p:spPr>
          <a:xfrm>
            <a:off x="125239" y="1080603"/>
            <a:ext cx="4446761" cy="2936241"/>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097162" name="Picture 24" descr="A screen shot of a computer  AI-generated content may be incorrect."/>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1048649" name="Text 2"/>
          <p:cNvSpPr/>
          <p:nvPr/>
        </p:nvSpPr>
        <p:spPr>
          <a:xfrm>
            <a:off x="140079" y="607520"/>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1048650" name="TextBox 6"/>
          <p:cNvSpPr txBox="1"/>
          <p:nvPr/>
        </p:nvSpPr>
        <p:spPr>
          <a:xfrm>
            <a:off x="125240" y="1082801"/>
            <a:ext cx="5818646" cy="3596641"/>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altLang="en-GB" sz="1800" dirty="0">
                <a:solidFill>
                  <a:schemeClr val="tx1"/>
                </a:solidFill>
                <a:effectLst/>
                <a:latin typeface="Lato" panose="020F0502020204030203" pitchFamily="34" charset="0"/>
                <a:ea typeface="Open Sans" panose="020B0606030504020204" pitchFamily="34" charset="0"/>
                <a:cs typeface="Arial" panose="020B0604020202020204" pitchFamily="34" charset="0"/>
              </a:rPr>
              <a:t>This project focuses on analyzing social media engagement patterns across platforms such as Instagram, Twitter, and LinkedIn. </a:t>
            </a:r>
            <a:endParaRPr lang="zh-CN" altLang="en-US"/>
          </a:p>
          <a:p>
            <a:pPr marL="228600" indent="-228600">
              <a:spcAft>
                <a:spcPts val="800"/>
              </a:spcAft>
              <a:buFont typeface="Arial" panose="020B0604020202020204" pitchFamily="34" charset="0"/>
              <a:buChar char="•"/>
              <a:tabLst>
                <a:tab pos="4229100" algn="ctr"/>
              </a:tabLst>
            </a:pPr>
            <a:r>
              <a:rPr lang="en-US" altLang="en-GB" sz="1800" dirty="0">
                <a:solidFill>
                  <a:schemeClr val="tx1"/>
                </a:solidFill>
                <a:effectLst/>
                <a:latin typeface="Lato" panose="020F0502020204030203" pitchFamily="34" charset="0"/>
                <a:ea typeface="Open Sans" panose="020B0606030504020204" pitchFamily="34" charset="0"/>
                <a:cs typeface="Arial" panose="020B0604020202020204" pitchFamily="34" charset="0"/>
              </a:rPr>
              <a:t>The objective is to identify what type of content drives higher engagement (likes, shares, comments) and how posting frequency, timing, and hashtags influence audience interaction.</a:t>
            </a:r>
            <a:endParaRPr lang="zh-CN" altLang="en-US"/>
          </a:p>
          <a:p>
            <a:pPr marL="228600" indent="-228600">
              <a:spcAft>
                <a:spcPts val="800"/>
              </a:spcAft>
              <a:buFont typeface="Arial" panose="020B0604020202020204" pitchFamily="34" charset="0"/>
              <a:buChar char="•"/>
              <a:tabLst>
                <a:tab pos="4229100" algn="ctr"/>
              </a:tabLst>
            </a:pPr>
            <a:r>
              <a:rPr lang="en-US" altLang="en-GB" sz="1800" dirty="0">
                <a:solidFill>
                  <a:schemeClr val="tx1"/>
                </a:solidFill>
                <a:effectLst/>
                <a:latin typeface="Lato" panose="020F0502020204030203" pitchFamily="34" charset="0"/>
                <a:ea typeface="Open Sans" panose="020B0606030504020204" pitchFamily="34" charset="0"/>
                <a:cs typeface="Arial" panose="020B0604020202020204" pitchFamily="34" charset="0"/>
              </a:rPr>
              <a:t> Tools like Python, Power BI, and Copilot are used for data collection, visualization, and insights. </a:t>
            </a:r>
            <a:endParaRPr lang="zh-CN" altLang="en-US"/>
          </a:p>
          <a:p>
            <a:pPr marL="228600" indent="-228600">
              <a:spcAft>
                <a:spcPts val="800"/>
              </a:spcAft>
              <a:buFont typeface="Arial" panose="020B0604020202020204" pitchFamily="34" charset="0"/>
              <a:buChar char="•"/>
              <a:tabLst>
                <a:tab pos="4229100" algn="ctr"/>
              </a:tabLst>
            </a:pPr>
            <a:r>
              <a:rPr lang="en-US" altLang="en-GB" sz="1800" dirty="0">
                <a:solidFill>
                  <a:schemeClr val="tx1"/>
                </a:solidFill>
                <a:effectLst/>
                <a:latin typeface="Lato" panose="020F0502020204030203" pitchFamily="34" charset="0"/>
                <a:ea typeface="Open Sans" panose="020B0606030504020204" pitchFamily="34" charset="0"/>
                <a:cs typeface="Arial" panose="020B0604020202020204" pitchFamily="34" charset="0"/>
              </a:rPr>
              <a:t>The expected outcome is a framework that helps brands and individuals optimize their social media strategies.</a:t>
            </a:r>
            <a:endParaRPr lang="zh-CN" altLang="en-US"/>
          </a:p>
        </p:txBody>
      </p:sp>
      <p:sp>
        <p:nvSpPr>
          <p:cNvPr id="1048651" name="Freeform 28"/>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097154" name="Picture 2"/>
          <p:cNvPicPr>
            <a:picLocks noChangeAspect="1"/>
          </p:cNvPicPr>
          <p:nvPr/>
        </p:nvPicPr>
        <p:blipFill>
          <a:blip r:embed="rId4"/>
          <a:stretch>
            <a:fillRect/>
          </a:stretch>
        </p:blipFill>
        <p:spPr>
          <a:xfrm>
            <a:off x="4888151" y="873760"/>
            <a:ext cx="3947240" cy="3947240"/>
          </a:xfrm>
          <a:prstGeom prst="rect">
            <a:avLst/>
          </a:prstGeom>
        </p:spPr>
      </p:pic>
      <p:sp>
        <p:nvSpPr>
          <p:cNvPr id="1048638" name="Text 2"/>
          <p:cNvSpPr/>
          <p:nvPr/>
        </p:nvSpPr>
        <p:spPr>
          <a:xfrm>
            <a:off x="120623" y="611286"/>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1048639" name="TextBox 5"/>
          <p:cNvSpPr txBox="1"/>
          <p:nvPr/>
        </p:nvSpPr>
        <p:spPr>
          <a:xfrm>
            <a:off x="125240" y="1082801"/>
            <a:ext cx="4762910" cy="322834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altLang="en-GB"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Social media platforms generate massive amounts of data daily, but most users and organizations struggle to understand what truly drives engagement. </a:t>
            </a:r>
          </a:p>
          <a:p>
            <a:pPr marL="228600" indent="-228600">
              <a:spcAft>
                <a:spcPts val="800"/>
              </a:spcAft>
              <a:buFont typeface="Arial" panose="020B0604020202020204" pitchFamily="34" charset="0"/>
              <a:buChar char="•"/>
              <a:tabLst>
                <a:tab pos="4229100" algn="ctr"/>
              </a:tabLst>
            </a:pPr>
            <a:r>
              <a:rPr lang="en-US" altLang="en-GB"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Existing analytics tools often provide surface-level metrics without deeper insights into content performance trends. </a:t>
            </a:r>
          </a:p>
          <a:p>
            <a:pPr marL="228600" indent="-228600">
              <a:spcAft>
                <a:spcPts val="800"/>
              </a:spcAft>
              <a:buFont typeface="Arial" panose="020B0604020202020204" pitchFamily="34" charset="0"/>
              <a:buChar char="•"/>
              <a:tabLst>
                <a:tab pos="4229100" algn="ctr"/>
              </a:tabLst>
            </a:pPr>
            <a:r>
              <a:rPr lang="en-US" altLang="en-GB"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This project addresses the challenge of extracting actionable insights from raw engagement data to improve content strategy and audience reach.</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097153" name="Picture 7"/>
          <p:cNvPicPr>
            <a:picLocks noChangeAspect="1"/>
          </p:cNvPicPr>
          <p:nvPr/>
        </p:nvPicPr>
        <p:blipFill>
          <a:blip r:embed="rId4"/>
          <a:stretch>
            <a:fillRect/>
          </a:stretch>
        </p:blipFill>
        <p:spPr>
          <a:xfrm>
            <a:off x="4240286" y="725532"/>
            <a:ext cx="4903714" cy="4203183"/>
          </a:xfrm>
          <a:prstGeom prst="rect">
            <a:avLst/>
          </a:prstGeom>
        </p:spPr>
      </p:pic>
      <p:sp>
        <p:nvSpPr>
          <p:cNvPr id="1048618" name="Text 2"/>
          <p:cNvSpPr/>
          <p:nvPr/>
        </p:nvSpPr>
        <p:spPr>
          <a:xfrm>
            <a:off x="125486" y="616930"/>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048619" name="Text 14"/>
          <p:cNvSpPr/>
          <p:nvPr/>
        </p:nvSpPr>
        <p:spPr>
          <a:xfrm>
            <a:off x="4846320" y="1280160"/>
            <a:ext cx="3931920" cy="1828800"/>
          </a:xfrm>
          <a:prstGeom prst="rect">
            <a:avLst/>
          </a:prstGeom>
          <a:noFill/>
        </p:spPr>
        <p:txBody>
          <a:bodyPr wrap="square" rtlCol="0" anchor="ctr"/>
          <a:lstStyle/>
          <a:p>
            <a:pPr marL="0" indent="0" algn="ctr">
              <a:buNone/>
            </a:pPr>
            <a:endParaRPr lang="en-US" sz="8000" dirty="0"/>
          </a:p>
        </p:txBody>
      </p:sp>
      <p:sp>
        <p:nvSpPr>
          <p:cNvPr id="1048620" name="Text 12"/>
          <p:cNvSpPr/>
          <p:nvPr/>
        </p:nvSpPr>
        <p:spPr>
          <a:xfrm>
            <a:off x="125486" y="1046013"/>
            <a:ext cx="4416154" cy="3474720"/>
          </a:xfrm>
          <a:prstGeom prst="rect">
            <a:avLst/>
          </a:prstGeom>
          <a:noFill/>
        </p:spPr>
        <p:txBody>
          <a:bodyPr wrap="square" rtlCol="0" anchor="t"/>
          <a:lstStyle/>
          <a:p>
            <a:pPr marL="285750" indent="-285750">
              <a:buFont typeface="Arial"/>
              <a:buChar char="•"/>
            </a:pPr>
            <a:r>
              <a:rPr lang="en-US" altLang="en-GB" dirty="0">
                <a:solidFill>
                  <a:srgbClr val="1A1A2E"/>
                </a:solidFill>
                <a:latin typeface="Lato" panose="020F0502020204030203" pitchFamily="34" charset="0"/>
                <a:ea typeface="Calibri" pitchFamily="34" charset="-122"/>
                <a:cs typeface="Arial" panose="020B0604020202020204" pitchFamily="34" charset="0"/>
              </a:rPr>
              <a:t>The solution involves building a data pipeline that collects engagement metrics via KPIs (likes, shares, comments, impressions). </a:t>
            </a:r>
            <a:endParaRPr lang="en-US" dirty="0">
              <a:latin typeface="Lato" panose="020F0502020204030203" pitchFamily="34" charset="0"/>
              <a:cs typeface="Arial" panose="020B0604020202020204" pitchFamily="34" charset="0"/>
            </a:endParaRPr>
          </a:p>
          <a:p>
            <a:pPr marL="285750" indent="-285750">
              <a:buFont typeface="Arial"/>
              <a:buChar char="•"/>
            </a:pPr>
            <a:r>
              <a:rPr lang="en-US" altLang="en-GB" dirty="0">
                <a:solidFill>
                  <a:srgbClr val="1A1A2E"/>
                </a:solidFill>
                <a:latin typeface="Lato" panose="020F0502020204030203" pitchFamily="34" charset="0"/>
                <a:ea typeface="Calibri" pitchFamily="34" charset="-122"/>
                <a:cs typeface="Arial" panose="020B0604020202020204" pitchFamily="34" charset="0"/>
              </a:rPr>
              <a:t>Data is cleaned and analyzed and visualized in Power BI dashboards. </a:t>
            </a:r>
            <a:endParaRPr lang="en-US" dirty="0">
              <a:latin typeface="Lato" panose="020F0502020204030203" pitchFamily="34" charset="0"/>
              <a:cs typeface="Arial" panose="020B0604020202020204" pitchFamily="34" charset="0"/>
            </a:endParaRPr>
          </a:p>
          <a:p>
            <a:pPr marL="285750" indent="-285750">
              <a:buFont typeface="Arial"/>
              <a:buChar char="•"/>
            </a:pPr>
            <a:r>
              <a:rPr lang="en-US" altLang="en-GB" dirty="0">
                <a:solidFill>
                  <a:srgbClr val="1A1A2E"/>
                </a:solidFill>
                <a:latin typeface="Lato" panose="020F0502020204030203" pitchFamily="34" charset="0"/>
                <a:ea typeface="Calibri" pitchFamily="34" charset="-122"/>
                <a:cs typeface="Arial" panose="020B0604020202020204" pitchFamily="34" charset="0"/>
              </a:rPr>
              <a:t>AI-driven sentiment analysis is integrated to understand audience reactions. </a:t>
            </a:r>
            <a:endParaRPr lang="en-US" dirty="0">
              <a:latin typeface="Lato" panose="020F0502020204030203" pitchFamily="34" charset="0"/>
              <a:cs typeface="Arial" panose="020B0604020202020204" pitchFamily="34" charset="0"/>
            </a:endParaRPr>
          </a:p>
          <a:p>
            <a:pPr marL="285750" indent="-285750">
              <a:buFont typeface="Arial"/>
              <a:buChar char="•"/>
            </a:pPr>
            <a:r>
              <a:rPr lang="en-US" altLang="en-GB" dirty="0">
                <a:solidFill>
                  <a:srgbClr val="1A1A2E"/>
                </a:solidFill>
                <a:latin typeface="Lato" panose="020F0502020204030203" pitchFamily="34" charset="0"/>
                <a:ea typeface="Calibri" pitchFamily="34" charset="-122"/>
                <a:cs typeface="Arial" panose="020B0604020202020204" pitchFamily="34" charset="0"/>
              </a:rPr>
              <a:t>Compared to traditional analytics, this solution provides deeper insights into engagement drivers, helping optimize posting strategies.</a:t>
            </a:r>
            <a:endParaRPr lang="en-US" dirty="0">
              <a:latin typeface="Lato" panose="020F0502020204030203" pitchFamily="34" charset="0"/>
              <a:cs typeface="Arial" panose="020B0604020202020204" pitchFamily="34" charset="0"/>
            </a:endParaRPr>
          </a:p>
          <a:p>
            <a:pPr marL="0" indent="0">
              <a:buNone/>
            </a:pPr>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1048580" name="Text 2"/>
          <p:cNvSpPr/>
          <p:nvPr/>
        </p:nvSpPr>
        <p:spPr>
          <a:xfrm>
            <a:off x="130350" y="602920"/>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1048581" name="Shape 4"/>
          <p:cNvSpPr/>
          <p:nvPr/>
        </p:nvSpPr>
        <p:spPr>
          <a:xfrm>
            <a:off x="235408" y="1243200"/>
            <a:ext cx="4114800" cy="384048"/>
          </a:xfrm>
          <a:prstGeom prst="rect">
            <a:avLst/>
          </a:prstGeom>
          <a:solidFill>
            <a:schemeClr val="accent1">
              <a:lumMod val="20000"/>
              <a:lumOff val="80000"/>
            </a:schemeClr>
          </a:solidFill>
        </p:spPr>
        <p:txBody>
          <a:bodyPr/>
          <a:lstStyle/>
          <a:p>
            <a:endParaRPr lang="en-IN">
              <a:latin typeface="Lato" panose="020F0502020204030203" pitchFamily="34" charset="0"/>
            </a:endParaRPr>
          </a:p>
        </p:txBody>
      </p:sp>
      <p:sp>
        <p:nvSpPr>
          <p:cNvPr id="1048582" name="Shape 5"/>
          <p:cNvSpPr/>
          <p:nvPr/>
        </p:nvSpPr>
        <p:spPr>
          <a:xfrm>
            <a:off x="4167328" y="1243200"/>
            <a:ext cx="320040" cy="384048"/>
          </a:xfrm>
          <a:prstGeom prst="rect">
            <a:avLst/>
          </a:prstGeom>
          <a:solidFill>
            <a:srgbClr val="1B3A8A"/>
          </a:solidFill>
        </p:spPr>
        <p:txBody>
          <a:bodyPr/>
          <a:lstStyle/>
          <a:p>
            <a:endParaRPr lang="en-IN">
              <a:latin typeface="Lato" panose="020F0502020204030203" pitchFamily="34" charset="0"/>
            </a:endParaRPr>
          </a:p>
        </p:txBody>
      </p:sp>
      <p:sp>
        <p:nvSpPr>
          <p:cNvPr id="1048583" name="Text 6"/>
          <p:cNvSpPr/>
          <p:nvPr/>
        </p:nvSpPr>
        <p:spPr>
          <a:xfrm>
            <a:off x="326848" y="1279776"/>
            <a:ext cx="3840480" cy="310896"/>
          </a:xfrm>
          <a:prstGeom prst="rect">
            <a:avLst/>
          </a:prstGeom>
          <a:noFill/>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1048584" name="Text 7"/>
          <p:cNvSpPr/>
          <p:nvPr/>
        </p:nvSpPr>
        <p:spPr>
          <a:xfrm>
            <a:off x="326848" y="1700400"/>
            <a:ext cx="4023360" cy="1188720"/>
          </a:xfrm>
          <a:prstGeom prst="rect">
            <a:avLst/>
          </a:prstGeom>
          <a:noFill/>
        </p:spPr>
        <p:txBody>
          <a:bodyPr wrap="square" rtlCol="0" anchor="t"/>
          <a:lstStyle/>
          <a:p>
            <a:pPr marL="0" indent="0">
              <a:buNone/>
            </a:pPr>
            <a:r>
              <a:rPr lang="en-US" altLang="en-GB" sz="1600" dirty="0">
                <a:solidFill>
                  <a:srgbClr val="1A1A2E"/>
                </a:solidFill>
                <a:latin typeface="Lato" panose="020F0502020204030203" pitchFamily="34" charset="0"/>
                <a:ea typeface="Calibri" pitchFamily="34" charset="-122"/>
                <a:cs typeface="Arial" panose="020B0604020202020204" pitchFamily="34" charset="0"/>
              </a:rPr>
              <a:t>KPIs from Instagram, Twitter, LinkedIn,  exports, Data Input </a:t>
            </a:r>
            <a:r>
              <a:rPr lang="en-US" altLang="en-GB" sz="1600" dirty="0" err="1">
                <a:solidFill>
                  <a:srgbClr val="1A1A2E"/>
                </a:solidFill>
                <a:latin typeface="Lato" panose="020F0502020204030203" pitchFamily="34" charset="0"/>
                <a:ea typeface="Calibri" pitchFamily="34" charset="-122"/>
                <a:cs typeface="Arial" panose="020B0604020202020204" pitchFamily="34" charset="0"/>
              </a:rPr>
              <a:t>Kaggle</a:t>
            </a:r>
            <a:r>
              <a:rPr lang="en-US" altLang="en-GB" sz="1600" dirty="0">
                <a:solidFill>
                  <a:srgbClr val="1A1A2E"/>
                </a:solidFill>
                <a:latin typeface="Lato" panose="020F0502020204030203" pitchFamily="34" charset="0"/>
                <a:ea typeface="Calibri" pitchFamily="34" charset="-122"/>
                <a:cs typeface="Arial" panose="020B0604020202020204" pitchFamily="34" charset="0"/>
              </a:rPr>
              <a:t>, </a:t>
            </a:r>
            <a:r>
              <a:rPr lang="en-US" altLang="en-GB" sz="1600" dirty="0" err="1">
                <a:solidFill>
                  <a:srgbClr val="1A1A2E"/>
                </a:solidFill>
                <a:latin typeface="Lato" panose="020F0502020204030203" pitchFamily="34" charset="0"/>
                <a:ea typeface="Calibri" pitchFamily="34" charset="-122"/>
                <a:cs typeface="Arial" panose="020B0604020202020204" pitchFamily="34" charset="0"/>
              </a:rPr>
              <a:t>Chatgpt</a:t>
            </a:r>
            <a:r>
              <a:rPr lang="en-US" altLang="en-GB" sz="1600" dirty="0">
                <a:solidFill>
                  <a:srgbClr val="1A1A2E"/>
                </a:solidFill>
                <a:latin typeface="Lato" panose="020F0502020204030203" pitchFamily="34" charset="0"/>
                <a:ea typeface="Calibri" pitchFamily="34" charset="-122"/>
                <a:cs typeface="Arial" panose="020B0604020202020204" pitchFamily="34" charset="0"/>
              </a:rPr>
              <a:t> scraped datasets.  </a:t>
            </a:r>
            <a:endParaRPr lang="en-US" sz="1600" dirty="0">
              <a:latin typeface="Lato" panose="020F0502020204030203" pitchFamily="34" charset="0"/>
              <a:cs typeface="Arial" panose="020B0604020202020204" pitchFamily="34" charset="0"/>
            </a:endParaRPr>
          </a:p>
        </p:txBody>
      </p:sp>
      <p:sp>
        <p:nvSpPr>
          <p:cNvPr id="1048585" name="Shape 8"/>
          <p:cNvSpPr/>
          <p:nvPr/>
        </p:nvSpPr>
        <p:spPr>
          <a:xfrm>
            <a:off x="4670248" y="1243200"/>
            <a:ext cx="4114800" cy="384048"/>
          </a:xfrm>
          <a:prstGeom prst="rect">
            <a:avLst/>
          </a:prstGeom>
          <a:solidFill>
            <a:schemeClr val="accent1">
              <a:lumMod val="20000"/>
              <a:lumOff val="80000"/>
            </a:schemeClr>
          </a:solidFill>
        </p:spPr>
        <p:txBody>
          <a:bodyPr/>
          <a:lstStyle/>
          <a:p>
            <a:endParaRPr lang="en-IN" sz="1600">
              <a:latin typeface="Lato" panose="020F0502020204030203" pitchFamily="34" charset="0"/>
              <a:cs typeface="Arial" panose="020B0604020202020204" pitchFamily="34" charset="0"/>
            </a:endParaRPr>
          </a:p>
        </p:txBody>
      </p:sp>
      <p:sp>
        <p:nvSpPr>
          <p:cNvPr id="1048586" name="Shape 9"/>
          <p:cNvSpPr/>
          <p:nvPr/>
        </p:nvSpPr>
        <p:spPr>
          <a:xfrm>
            <a:off x="8602168" y="1243200"/>
            <a:ext cx="320040" cy="384048"/>
          </a:xfrm>
          <a:prstGeom prst="rect">
            <a:avLst/>
          </a:prstGeom>
          <a:solidFill>
            <a:srgbClr val="1B3A8A"/>
          </a:solidFill>
        </p:spPr>
        <p:txBody>
          <a:bodyPr/>
          <a:lstStyle/>
          <a:p>
            <a:endParaRPr lang="en-IN">
              <a:latin typeface="Lato" panose="020F0502020204030203" pitchFamily="34" charset="0"/>
            </a:endParaRPr>
          </a:p>
        </p:txBody>
      </p:sp>
      <p:sp>
        <p:nvSpPr>
          <p:cNvPr id="1048587" name="Text 10"/>
          <p:cNvSpPr/>
          <p:nvPr/>
        </p:nvSpPr>
        <p:spPr>
          <a:xfrm>
            <a:off x="4761688" y="1279776"/>
            <a:ext cx="3840480" cy="310896"/>
          </a:xfrm>
          <a:prstGeom prst="rect">
            <a:avLst/>
          </a:prstGeom>
          <a:noFill/>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048588" name="Text 11"/>
          <p:cNvSpPr/>
          <p:nvPr/>
        </p:nvSpPr>
        <p:spPr>
          <a:xfrm>
            <a:off x="4670248" y="1700400"/>
            <a:ext cx="4023360" cy="1188720"/>
          </a:xfrm>
          <a:prstGeom prst="rect">
            <a:avLst/>
          </a:prstGeom>
          <a:noFill/>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48589" name="Shape 12"/>
          <p:cNvSpPr/>
          <p:nvPr/>
        </p:nvSpPr>
        <p:spPr>
          <a:xfrm>
            <a:off x="235408" y="2969856"/>
            <a:ext cx="4114800" cy="384048"/>
          </a:xfrm>
          <a:prstGeom prst="rect">
            <a:avLst/>
          </a:prstGeom>
          <a:solidFill>
            <a:schemeClr val="accent1">
              <a:lumMod val="20000"/>
              <a:lumOff val="80000"/>
            </a:schemeClr>
          </a:solidFill>
        </p:spPr>
        <p:txBody>
          <a:bodyPr/>
          <a:lstStyle/>
          <a:p>
            <a:endParaRPr lang="en-IN">
              <a:latin typeface="Lato" panose="020F0502020204030203" pitchFamily="34" charset="0"/>
            </a:endParaRPr>
          </a:p>
        </p:txBody>
      </p:sp>
      <p:sp>
        <p:nvSpPr>
          <p:cNvPr id="1048590" name="Shape 13"/>
          <p:cNvSpPr/>
          <p:nvPr/>
        </p:nvSpPr>
        <p:spPr>
          <a:xfrm>
            <a:off x="4167328" y="2969856"/>
            <a:ext cx="320040" cy="384048"/>
          </a:xfrm>
          <a:prstGeom prst="rect">
            <a:avLst/>
          </a:prstGeom>
          <a:solidFill>
            <a:srgbClr val="1B3A8A"/>
          </a:solidFill>
        </p:spPr>
        <p:txBody>
          <a:bodyPr/>
          <a:lstStyle/>
          <a:p>
            <a:endParaRPr lang="en-IN">
              <a:latin typeface="Lato" panose="020F0502020204030203" pitchFamily="34" charset="0"/>
            </a:endParaRPr>
          </a:p>
        </p:txBody>
      </p:sp>
      <p:sp>
        <p:nvSpPr>
          <p:cNvPr id="1048591" name="Text 14"/>
          <p:cNvSpPr/>
          <p:nvPr/>
        </p:nvSpPr>
        <p:spPr>
          <a:xfrm>
            <a:off x="326848" y="3006432"/>
            <a:ext cx="3840480" cy="310896"/>
          </a:xfrm>
          <a:prstGeom prst="rect">
            <a:avLst/>
          </a:prstGeom>
          <a:noFill/>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048592" name="Text 15"/>
          <p:cNvSpPr/>
          <p:nvPr/>
        </p:nvSpPr>
        <p:spPr>
          <a:xfrm>
            <a:off x="337122" y="3427056"/>
            <a:ext cx="4023360" cy="1188720"/>
          </a:xfrm>
          <a:prstGeom prst="rect">
            <a:avLst/>
          </a:prstGeom>
          <a:noFill/>
        </p:spPr>
        <p:txBody>
          <a:bodyPr wrap="square" rtlCol="0" anchor="t"/>
          <a:lstStyle/>
          <a:p>
            <a:r>
              <a:rPr lang="en-GB" sz="1600" dirty="0">
                <a:latin typeface="Lato" panose="020F0502020204030203" pitchFamily="34" charset="0"/>
                <a:cs typeface="Arial" panose="020B0604020202020204" pitchFamily="34" charset="0"/>
              </a:rPr>
              <a:t>Power BI for visualization Excel for data handling Copilot for insights and suggestions.</a:t>
            </a:r>
            <a:endParaRPr lang="en-US" sz="1600" dirty="0">
              <a:latin typeface="Lato" panose="020F0502020204030203" pitchFamily="34" charset="0"/>
              <a:cs typeface="Arial" panose="020B0604020202020204" pitchFamily="34" charset="0"/>
            </a:endParaRPr>
          </a:p>
        </p:txBody>
      </p:sp>
      <p:sp>
        <p:nvSpPr>
          <p:cNvPr id="1048593" name="Shape 16"/>
          <p:cNvSpPr/>
          <p:nvPr/>
        </p:nvSpPr>
        <p:spPr>
          <a:xfrm>
            <a:off x="4670248" y="2969856"/>
            <a:ext cx="4114800" cy="384048"/>
          </a:xfrm>
          <a:prstGeom prst="rect">
            <a:avLst/>
          </a:prstGeom>
          <a:solidFill>
            <a:schemeClr val="accent1">
              <a:lumMod val="20000"/>
              <a:lumOff val="80000"/>
            </a:schemeClr>
          </a:solidFill>
        </p:spPr>
        <p:txBody>
          <a:bodyPr/>
          <a:lstStyle/>
          <a:p>
            <a:endParaRPr lang="en-IN">
              <a:latin typeface="Lato" panose="020F0502020204030203" pitchFamily="34" charset="0"/>
            </a:endParaRPr>
          </a:p>
        </p:txBody>
      </p:sp>
      <p:sp>
        <p:nvSpPr>
          <p:cNvPr id="1048594" name="Shape 17"/>
          <p:cNvSpPr/>
          <p:nvPr/>
        </p:nvSpPr>
        <p:spPr>
          <a:xfrm>
            <a:off x="8602168" y="2969856"/>
            <a:ext cx="320040" cy="384048"/>
          </a:xfrm>
          <a:prstGeom prst="rect">
            <a:avLst/>
          </a:prstGeom>
          <a:solidFill>
            <a:srgbClr val="1B3A8A"/>
          </a:solidFill>
        </p:spPr>
        <p:txBody>
          <a:bodyPr/>
          <a:lstStyle/>
          <a:p>
            <a:endParaRPr lang="en-IN">
              <a:latin typeface="Lato" panose="020F0502020204030203" pitchFamily="34" charset="0"/>
            </a:endParaRPr>
          </a:p>
        </p:txBody>
      </p:sp>
      <p:sp>
        <p:nvSpPr>
          <p:cNvPr id="1048595" name="Text 18"/>
          <p:cNvSpPr/>
          <p:nvPr/>
        </p:nvSpPr>
        <p:spPr>
          <a:xfrm>
            <a:off x="4761688" y="3006432"/>
            <a:ext cx="3840480" cy="310896"/>
          </a:xfrm>
          <a:prstGeom prst="rect">
            <a:avLst/>
          </a:prstGeom>
          <a:noFill/>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1048596" name="Text 19"/>
          <p:cNvSpPr/>
          <p:nvPr/>
        </p:nvSpPr>
        <p:spPr>
          <a:xfrm>
            <a:off x="4761688" y="3427056"/>
            <a:ext cx="4023360" cy="1188720"/>
          </a:xfrm>
          <a:prstGeom prst="rect">
            <a:avLst/>
          </a:prstGeom>
          <a:noFill/>
        </p:spPr>
        <p:txBody>
          <a:bodyPr wrap="square" rtlCol="0" anchor="t"/>
          <a:lstStyle/>
          <a:p>
            <a:r>
              <a:rPr lang="en-GB" sz="1600" dirty="0">
                <a:latin typeface="Lato" panose="020F0502020204030203" pitchFamily="34" charset="0"/>
                <a:cs typeface="Arial" panose="020B0604020202020204" pitchFamily="34" charset="0"/>
              </a:rPr>
              <a:t>Interactive dashboard showing engagement trends, best posting times, content type performance.</a:t>
            </a:r>
            <a:endParaRPr lang="en-US" sz="1600" dirty="0">
              <a:latin typeface="Lato" panose="020F0502020204030203" pitchFamily="34" charset="0"/>
              <a:cs typeface="Arial" panose="020B0604020202020204" pitchFamily="34" charset="0"/>
            </a:endParaRPr>
          </a:p>
        </p:txBody>
      </p:sp>
      <p:sp>
        <p:nvSpPr>
          <p:cNvPr id="2" name="TextBox 1"/>
          <p:cNvSpPr txBox="1"/>
          <p:nvPr/>
        </p:nvSpPr>
        <p:spPr>
          <a:xfrm>
            <a:off x="4670248" y="1756151"/>
            <a:ext cx="4023359" cy="1077218"/>
          </a:xfrm>
          <a:prstGeom prst="rect">
            <a:avLst/>
          </a:prstGeom>
          <a:noFill/>
        </p:spPr>
        <p:txBody>
          <a:bodyPr wrap="square" rtlCol="0">
            <a:spAutoFit/>
          </a:bodyPr>
          <a:lstStyle/>
          <a:p>
            <a:r>
              <a:rPr lang="en-GB" sz="1600" dirty="0">
                <a:latin typeface="Lato"/>
              </a:rPr>
              <a:t>Data cleaning in Excel Data transformation in Power BI Creating measures like : Total Engagement = Likes + Comments + Shares Engagement Rate</a:t>
            </a:r>
            <a:endParaRPr lang="en-IN" sz="1600" dirty="0">
              <a:latin typeface="Lato"/>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1048600" name="Text 2"/>
          <p:cNvSpPr/>
          <p:nvPr/>
        </p:nvSpPr>
        <p:spPr>
          <a:xfrm>
            <a:off x="120623" y="607298"/>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1048601" name="Text 4"/>
          <p:cNvSpPr/>
          <p:nvPr/>
        </p:nvSpPr>
        <p:spPr>
          <a:xfrm>
            <a:off x="125487" y="1105839"/>
            <a:ext cx="8412480" cy="320040"/>
          </a:xfrm>
          <a:prstGeom prst="rect">
            <a:avLst/>
          </a:prstGeom>
          <a:noFill/>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1048602" name="Shape 5"/>
          <p:cNvSpPr/>
          <p:nvPr/>
        </p:nvSpPr>
        <p:spPr>
          <a:xfrm>
            <a:off x="905256" y="1425879"/>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048603" name="Shape 7"/>
          <p:cNvSpPr/>
          <p:nvPr/>
        </p:nvSpPr>
        <p:spPr>
          <a:xfrm>
            <a:off x="274320" y="2196877"/>
            <a:ext cx="2788920" cy="2651760"/>
          </a:xfrm>
          <a:prstGeom prst="rect">
            <a:avLst/>
          </a:prstGeom>
          <a:solidFill>
            <a:schemeClr val="accent1">
              <a:lumMod val="20000"/>
              <a:lumOff val="80000"/>
            </a:schemeClr>
          </a:solidFill>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48604" name="Text 8"/>
          <p:cNvSpPr/>
          <p:nvPr/>
        </p:nvSpPr>
        <p:spPr>
          <a:xfrm>
            <a:off x="274320" y="2413802"/>
            <a:ext cx="2788920" cy="411480"/>
          </a:xfrm>
          <a:prstGeom prst="rect">
            <a:avLst/>
          </a:prstGeom>
          <a:noFill/>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048605" name="Text 9"/>
          <p:cNvSpPr/>
          <p:nvPr/>
        </p:nvSpPr>
        <p:spPr>
          <a:xfrm>
            <a:off x="411480" y="2919838"/>
            <a:ext cx="2514600" cy="1371600"/>
          </a:xfrm>
          <a:prstGeom prst="rect">
            <a:avLst/>
          </a:prstGeom>
          <a:noFill/>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1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048606"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048607" name="Shape 12"/>
          <p:cNvSpPr/>
          <p:nvPr/>
        </p:nvSpPr>
        <p:spPr>
          <a:xfrm>
            <a:off x="3218688" y="2196877"/>
            <a:ext cx="2788920" cy="2651760"/>
          </a:xfrm>
          <a:prstGeom prst="rect">
            <a:avLst/>
          </a:prstGeom>
          <a:solidFill>
            <a:srgbClr val="FDF3ED"/>
          </a:solidFill>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48608" name="Text 13"/>
          <p:cNvSpPr/>
          <p:nvPr/>
        </p:nvSpPr>
        <p:spPr>
          <a:xfrm>
            <a:off x="3218688" y="2413802"/>
            <a:ext cx="2788920" cy="411480"/>
          </a:xfrm>
          <a:prstGeom prst="rect">
            <a:avLst/>
          </a:prstGeom>
          <a:noFill/>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048609" name="Text 14"/>
          <p:cNvSpPr/>
          <p:nvPr/>
        </p:nvSpPr>
        <p:spPr>
          <a:xfrm>
            <a:off x="3355848" y="2919838"/>
            <a:ext cx="2514600" cy="1371600"/>
          </a:xfrm>
          <a:prstGeom prst="rect">
            <a:avLst/>
          </a:prstGeom>
          <a:noFill/>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2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048610"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048611" name="Text 16"/>
          <p:cNvSpPr/>
          <p:nvPr/>
        </p:nvSpPr>
        <p:spPr>
          <a:xfrm>
            <a:off x="6867144" y="1648237"/>
            <a:ext cx="1371600" cy="1371600"/>
          </a:xfrm>
          <a:prstGeom prst="rect">
            <a:avLst/>
          </a:prstGeom>
          <a:noFill/>
        </p:spPr>
        <p:txBody>
          <a:bodyPr wrap="square" rtlCol="0" anchor="ctr"/>
          <a:lstStyle/>
          <a:p>
            <a:pPr marL="0" indent="0" algn="ctr">
              <a:buNone/>
            </a:pPr>
            <a:endParaRPr lang="en-US" sz="3600" dirty="0">
              <a:latin typeface="Lato" panose="020F0502020204030203" pitchFamily="34" charset="0"/>
            </a:endParaRPr>
          </a:p>
        </p:txBody>
      </p:sp>
      <p:sp>
        <p:nvSpPr>
          <p:cNvPr id="1048612" name="Shape 17"/>
          <p:cNvSpPr/>
          <p:nvPr/>
        </p:nvSpPr>
        <p:spPr>
          <a:xfrm>
            <a:off x="6163056" y="2200479"/>
            <a:ext cx="2788920" cy="2651760"/>
          </a:xfrm>
          <a:prstGeom prst="rect">
            <a:avLst/>
          </a:prstGeom>
          <a:solidFill>
            <a:schemeClr val="accent1">
              <a:lumMod val="20000"/>
              <a:lumOff val="80000"/>
            </a:schemeClr>
          </a:solidFill>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48613" name="Text 18"/>
          <p:cNvSpPr/>
          <p:nvPr/>
        </p:nvSpPr>
        <p:spPr>
          <a:xfrm>
            <a:off x="6163056" y="2413802"/>
            <a:ext cx="2788920" cy="411480"/>
          </a:xfrm>
          <a:prstGeom prst="rect">
            <a:avLst/>
          </a:prstGeom>
          <a:noFill/>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1048614" name="Text 19"/>
          <p:cNvSpPr/>
          <p:nvPr/>
        </p:nvSpPr>
        <p:spPr>
          <a:xfrm>
            <a:off x="6300216" y="2919838"/>
            <a:ext cx="2514600" cy="1371600"/>
          </a:xfrm>
          <a:prstGeom prst="rect">
            <a:avLst/>
          </a:prstGeom>
          <a:noFill/>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3 here — what this demo shows, key features, and results achieved.]</a:t>
            </a: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1048624" name="Text 2"/>
          <p:cNvSpPr/>
          <p:nvPr/>
        </p:nvSpPr>
        <p:spPr>
          <a:xfrm>
            <a:off x="320040" y="621792"/>
            <a:ext cx="8229600" cy="438912"/>
          </a:xfrm>
          <a:prstGeom prst="rect">
            <a:avLst/>
          </a:prstGeom>
          <a:noFill/>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1048625"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1048626" name="Shape 5"/>
          <p:cNvSpPr/>
          <p:nvPr/>
        </p:nvSpPr>
        <p:spPr>
          <a:xfrm>
            <a:off x="365760" y="685800"/>
            <a:ext cx="8412480" cy="384048"/>
          </a:xfrm>
          <a:prstGeom prst="rect">
            <a:avLst/>
          </a:prstGeom>
          <a:solidFill>
            <a:srgbClr val="E0E0E0"/>
          </a:solidFill>
        </p:spPr>
        <p:txBody>
          <a:bodyPr/>
          <a:lstStyle/>
          <a:p>
            <a:endParaRPr lang="en-IN"/>
          </a:p>
        </p:txBody>
      </p:sp>
      <p:sp>
        <p:nvSpPr>
          <p:cNvPr id="1048627" name="Shape 6"/>
          <p:cNvSpPr/>
          <p:nvPr/>
        </p:nvSpPr>
        <p:spPr>
          <a:xfrm>
            <a:off x="502920" y="777240"/>
            <a:ext cx="164592" cy="164592"/>
          </a:xfrm>
          <a:prstGeom prst="ellipse">
            <a:avLst/>
          </a:prstGeom>
          <a:solidFill>
            <a:srgbClr val="FF5F57"/>
          </a:solidFill>
        </p:spPr>
        <p:txBody>
          <a:bodyPr/>
          <a:lstStyle/>
          <a:p>
            <a:endParaRPr lang="en-IN"/>
          </a:p>
        </p:txBody>
      </p:sp>
      <p:sp>
        <p:nvSpPr>
          <p:cNvPr id="1048628" name="Shape 7"/>
          <p:cNvSpPr/>
          <p:nvPr/>
        </p:nvSpPr>
        <p:spPr>
          <a:xfrm>
            <a:off x="731520" y="777240"/>
            <a:ext cx="164592" cy="164592"/>
          </a:xfrm>
          <a:prstGeom prst="ellipse">
            <a:avLst/>
          </a:prstGeom>
          <a:solidFill>
            <a:srgbClr val="FEBC2E"/>
          </a:solidFill>
        </p:spPr>
        <p:txBody>
          <a:bodyPr/>
          <a:lstStyle/>
          <a:p>
            <a:endParaRPr lang="en-IN"/>
          </a:p>
        </p:txBody>
      </p:sp>
      <p:sp>
        <p:nvSpPr>
          <p:cNvPr id="1048629" name="Shape 8"/>
          <p:cNvSpPr/>
          <p:nvPr/>
        </p:nvSpPr>
        <p:spPr>
          <a:xfrm>
            <a:off x="960120" y="777240"/>
            <a:ext cx="164592" cy="164592"/>
          </a:xfrm>
          <a:prstGeom prst="ellipse">
            <a:avLst/>
          </a:prstGeom>
          <a:solidFill>
            <a:srgbClr val="28C840"/>
          </a:solidFill>
        </p:spPr>
        <p:txBody>
          <a:bodyPr/>
          <a:lstStyle/>
          <a:p>
            <a:endParaRPr lang="en-IN"/>
          </a:p>
        </p:txBody>
      </p:sp>
      <p:sp>
        <p:nvSpPr>
          <p:cNvPr id="1048630"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048631" name="Text 10"/>
          <p:cNvSpPr/>
          <p:nvPr/>
        </p:nvSpPr>
        <p:spPr>
          <a:xfrm>
            <a:off x="1389888" y="768096"/>
            <a:ext cx="4992624" cy="219456"/>
          </a:xfrm>
          <a:prstGeom prst="rect">
            <a:avLst/>
          </a:prstGeom>
          <a:noFill/>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048632" name="Shape 11"/>
          <p:cNvSpPr/>
          <p:nvPr/>
        </p:nvSpPr>
        <p:spPr>
          <a:xfrm>
            <a:off x="3749040" y="1828800"/>
            <a:ext cx="1645920" cy="1645920"/>
          </a:xfrm>
          <a:prstGeom prst="ellipse">
            <a:avLst/>
          </a:prstGeom>
          <a:solidFill>
            <a:srgbClr val="1B3A8A">
              <a:alpha val="80000"/>
            </a:srgbClr>
          </a:solidFill>
        </p:spPr>
        <p:txBody>
          <a:bodyPr/>
          <a:lstStyle/>
          <a:p>
            <a:endParaRPr lang="en-IN"/>
          </a:p>
        </p:txBody>
      </p:sp>
      <p:sp>
        <p:nvSpPr>
          <p:cNvPr id="1048633" name="Text 12"/>
          <p:cNvSpPr/>
          <p:nvPr/>
        </p:nvSpPr>
        <p:spPr>
          <a:xfrm>
            <a:off x="3749040" y="1828800"/>
            <a:ext cx="1645920" cy="1645920"/>
          </a:xfrm>
          <a:prstGeom prst="rect">
            <a:avLst/>
          </a:prstGeom>
          <a:noFill/>
        </p:spPr>
        <p:txBody>
          <a:bodyPr wrap="square" rtlCol="0" anchor="ctr"/>
          <a:lstStyle/>
          <a:p>
            <a:pPr marL="0" indent="0" algn="ctr">
              <a:buNone/>
            </a:pPr>
            <a:r>
              <a:rPr lang="en-US" sz="4800" dirty="0">
                <a:solidFill>
                  <a:srgbClr val="FFFFFF"/>
                </a:solidFill>
              </a:rPr>
              <a:t>▶</a:t>
            </a:r>
            <a:endParaRPr lang="en-US" sz="4800" dirty="0"/>
          </a:p>
        </p:txBody>
      </p:sp>
      <p:sp>
        <p:nvSpPr>
          <p:cNvPr id="1048634" name="Text 13"/>
          <p:cNvSpPr/>
          <p:nvPr/>
        </p:nvSpPr>
        <p:spPr>
          <a:xfrm>
            <a:off x="914400" y="3794760"/>
            <a:ext cx="7315200" cy="594360"/>
          </a:xfrm>
          <a:prstGeom prst="rect">
            <a:avLst/>
          </a:prstGeom>
          <a:noFill/>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pic>
        <p:nvPicPr>
          <p:cNvPr id="3" name="Picture 2">
            <a:extLst>
              <a:ext uri="{FF2B5EF4-FFF2-40B4-BE49-F238E27FC236}">
                <a16:creationId xmlns:a16="http://schemas.microsoft.com/office/drawing/2014/main" id="{6AA99217-26FA-0FF0-4B55-FCA8E4E423A9}"/>
              </a:ext>
            </a:extLst>
          </p:cNvPr>
          <p:cNvPicPr>
            <a:picLocks noChangeAspect="1"/>
          </p:cNvPicPr>
          <p:nvPr/>
        </p:nvPicPr>
        <p:blipFill>
          <a:blip r:embed="rId4"/>
          <a:stretch>
            <a:fillRect/>
          </a:stretch>
        </p:blipFill>
        <p:spPr>
          <a:xfrm>
            <a:off x="115075" y="0"/>
            <a:ext cx="8913849" cy="5143500"/>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048643" name="Text 2"/>
          <p:cNvSpPr/>
          <p:nvPr/>
        </p:nvSpPr>
        <p:spPr>
          <a:xfrm>
            <a:off x="130351" y="612064"/>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048644" name="Text 12"/>
          <p:cNvSpPr/>
          <p:nvPr/>
        </p:nvSpPr>
        <p:spPr>
          <a:xfrm>
            <a:off x="125486" y="1084927"/>
            <a:ext cx="4446513" cy="3474720"/>
          </a:xfrm>
          <a:prstGeom prst="rect">
            <a:avLst/>
          </a:prstGeom>
          <a:noFill/>
        </p:spPr>
        <p:txBody>
          <a:bodyPr wrap="square" rtlCol="0" anchor="t"/>
          <a:lstStyle/>
          <a:p>
            <a:r>
              <a:rPr lang="en-GB" dirty="0">
                <a:latin typeface="Lato" panose="020F0502020204030203" pitchFamily="34" charset="0"/>
                <a:cs typeface="Arial" panose="020B0604020202020204" pitchFamily="34" charset="0"/>
              </a:rPr>
              <a:t>The project successfully demonstrates how AI and analytics can uncover hidden patterns in social media engagement. By identifying optimal posting strategies and content types, the solution adds value to digital marketing efforts and personal branding.</a:t>
            </a:r>
            <a:endParaRPr lang="en-US" dirty="0">
              <a:latin typeface="Lato" panose="020F0502020204030203" pitchFamily="34" charset="0"/>
              <a:cs typeface="Arial" panose="020B0604020202020204" pitchFamily="34" charset="0"/>
            </a:endParaRPr>
          </a:p>
        </p:txBody>
      </p:sp>
      <p:sp>
        <p:nvSpPr>
          <p:cNvPr id="1048645" name="Text 17"/>
          <p:cNvSpPr/>
          <p:nvPr/>
        </p:nvSpPr>
        <p:spPr>
          <a:xfrm>
            <a:off x="5303520" y="3474720"/>
            <a:ext cx="3017520" cy="502920"/>
          </a:xfrm>
          <a:prstGeom prst="rect">
            <a:avLst/>
          </a:prstGeom>
          <a:noFill/>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97155" name="Picture 19" descr="A blue circle with a pencil and paper with a star on it  AI-generated content may be incorrect."/>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1048696" name="Text 2"/>
          <p:cNvSpPr/>
          <p:nvPr/>
        </p:nvSpPr>
        <p:spPr>
          <a:xfrm>
            <a:off x="123247" y="613561"/>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048697" name="Text 12"/>
          <p:cNvSpPr/>
          <p:nvPr/>
        </p:nvSpPr>
        <p:spPr>
          <a:xfrm>
            <a:off x="123247" y="1082104"/>
            <a:ext cx="4114800" cy="3474720"/>
          </a:xfrm>
          <a:prstGeom prst="rect">
            <a:avLst/>
          </a:prstGeom>
          <a:noFill/>
        </p:spPr>
        <p:txBody>
          <a:bodyPr wrap="square" rtlCol="0" anchor="t"/>
          <a:lstStyle/>
          <a:p>
            <a:pPr marL="285750" indent="-285750">
              <a:buFont typeface="Arial" pitchFamily="34" charset="0"/>
              <a:buChar char="•"/>
            </a:pPr>
            <a:r>
              <a:rPr lang="en-GB" dirty="0">
                <a:latin typeface="Lato" panose="020F0502020204030203" pitchFamily="34" charset="0"/>
                <a:cs typeface="Arial" panose="020B0604020202020204" pitchFamily="34" charset="0"/>
              </a:rPr>
              <a:t> Expand analysis to Instagram and YouTube.  </a:t>
            </a:r>
            <a:br>
              <a:rPr lang="en-GB" dirty="0">
                <a:latin typeface="Lato" panose="020F0502020204030203" pitchFamily="34" charset="0"/>
                <a:cs typeface="Arial" panose="020B0604020202020204" pitchFamily="34" charset="0"/>
              </a:rPr>
            </a:br>
            <a:endParaRPr lang="en-GB" dirty="0">
              <a:latin typeface="Lato" panose="020F0502020204030203" pitchFamily="34" charset="0"/>
              <a:cs typeface="Arial" panose="020B0604020202020204" pitchFamily="34" charset="0"/>
            </a:endParaRPr>
          </a:p>
          <a:p>
            <a:pPr marL="285750" indent="-285750">
              <a:buFont typeface="Arial" pitchFamily="34" charset="0"/>
              <a:buChar char="•"/>
            </a:pPr>
            <a:r>
              <a:rPr lang="en-GB" dirty="0">
                <a:latin typeface="Lato" panose="020F0502020204030203" pitchFamily="34" charset="0"/>
                <a:cs typeface="Arial" panose="020B0604020202020204" pitchFamily="34" charset="0"/>
              </a:rPr>
              <a:t>Integrate predictive </a:t>
            </a:r>
            <a:r>
              <a:rPr lang="en-GB" dirty="0" err="1">
                <a:latin typeface="Lato" panose="020F0502020204030203" pitchFamily="34" charset="0"/>
                <a:cs typeface="Arial" panose="020B0604020202020204" pitchFamily="34" charset="0"/>
              </a:rPr>
              <a:t>modeling</a:t>
            </a:r>
            <a:r>
              <a:rPr lang="en-GB" dirty="0">
                <a:latin typeface="Lato" panose="020F0502020204030203" pitchFamily="34" charset="0"/>
                <a:cs typeface="Arial" panose="020B0604020202020204" pitchFamily="34" charset="0"/>
              </a:rPr>
              <a:t> to forecast engagement. </a:t>
            </a:r>
            <a:br>
              <a:rPr lang="en-GB" dirty="0">
                <a:latin typeface="Lato" panose="020F0502020204030203" pitchFamily="34" charset="0"/>
                <a:cs typeface="Arial" panose="020B0604020202020204" pitchFamily="34" charset="0"/>
              </a:rPr>
            </a:br>
            <a:endParaRPr lang="en-GB" dirty="0">
              <a:latin typeface="Lato" panose="020F0502020204030203" pitchFamily="34" charset="0"/>
              <a:cs typeface="Arial" panose="020B0604020202020204" pitchFamily="34" charset="0"/>
            </a:endParaRPr>
          </a:p>
          <a:p>
            <a:pPr marL="285750" indent="-285750">
              <a:buFont typeface="Arial" pitchFamily="34" charset="0"/>
              <a:buChar char="•"/>
            </a:pPr>
            <a:r>
              <a:rPr lang="en-GB" dirty="0">
                <a:latin typeface="Lato" panose="020F0502020204030203" pitchFamily="34" charset="0"/>
                <a:cs typeface="Arial" panose="020B0604020202020204" pitchFamily="34" charset="0"/>
              </a:rPr>
              <a:t>  Automate recommendations for </a:t>
            </a:r>
            <a:r>
              <a:rPr lang="en-GB" dirty="0" err="1">
                <a:latin typeface="Lato" panose="020F0502020204030203" pitchFamily="34" charset="0"/>
                <a:cs typeface="Arial" panose="020B0604020202020204" pitchFamily="34" charset="0"/>
              </a:rPr>
              <a:t>hashtags</a:t>
            </a:r>
            <a:r>
              <a:rPr lang="en-GB" dirty="0">
                <a:latin typeface="Lato" panose="020F0502020204030203" pitchFamily="34" charset="0"/>
                <a:cs typeface="Arial" panose="020B0604020202020204" pitchFamily="34" charset="0"/>
              </a:rPr>
              <a:t> and captions.  </a:t>
            </a:r>
            <a:br>
              <a:rPr lang="en-GB" dirty="0">
                <a:latin typeface="Lato" panose="020F0502020204030203" pitchFamily="34" charset="0"/>
                <a:cs typeface="Arial" panose="020B0604020202020204" pitchFamily="34" charset="0"/>
              </a:rPr>
            </a:br>
            <a:endParaRPr lang="en-GB" dirty="0">
              <a:latin typeface="Lato" panose="020F0502020204030203" pitchFamily="34" charset="0"/>
              <a:cs typeface="Arial" panose="020B0604020202020204" pitchFamily="34" charset="0"/>
            </a:endParaRPr>
          </a:p>
          <a:p>
            <a:pPr marL="285750" indent="-285750">
              <a:buFont typeface="Arial" pitchFamily="34" charset="0"/>
              <a:buChar char="•"/>
            </a:pPr>
            <a:r>
              <a:rPr lang="en-GB" dirty="0">
                <a:latin typeface="Lato" panose="020F0502020204030203" pitchFamily="34" charset="0"/>
                <a:cs typeface="Arial" panose="020B0604020202020204" pitchFamily="34" charset="0"/>
              </a:rPr>
              <a:t> Explore cross-platform engagement correlations</a:t>
            </a:r>
            <a:endParaRPr lang="en-US" dirty="0">
              <a:latin typeface="Lato" panose="020F0502020204030203" pitchFamily="34" charset="0"/>
              <a:cs typeface="Arial" panose="020B0604020202020204" pitchFamily="34" charset="0"/>
            </a:endParaRPr>
          </a:p>
        </p:txBody>
      </p:sp>
      <p:pic>
        <p:nvPicPr>
          <p:cNvPr id="2097163" name="Picture 1"/>
          <p:cNvPicPr>
            <a:picLocks noChangeAspect="1"/>
          </p:cNvPicPr>
          <p:nvPr/>
        </p:nvPicPr>
        <p:blipFill>
          <a:blip r:embed="rId4"/>
          <a:stretch>
            <a:fillRect/>
          </a:stretch>
        </p:blipFill>
        <p:spPr>
          <a:xfrm>
            <a:off x="4631635" y="879613"/>
            <a:ext cx="4512365" cy="3384274"/>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1048701" name="Text 3"/>
          <p:cNvSpPr/>
          <p:nvPr/>
        </p:nvSpPr>
        <p:spPr>
          <a:xfrm>
            <a:off x="914400" y="3017520"/>
            <a:ext cx="7315200" cy="411480"/>
          </a:xfrm>
          <a:prstGeom prst="rect">
            <a:avLst/>
          </a:prstGeom>
          <a:noFill/>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1048702" name="Text 4"/>
          <p:cNvSpPr/>
          <p:nvPr/>
        </p:nvSpPr>
        <p:spPr>
          <a:xfrm>
            <a:off x="914400" y="3566160"/>
            <a:ext cx="7315200" cy="320040"/>
          </a:xfrm>
          <a:prstGeom prst="rect">
            <a:avLst/>
          </a:prstGeom>
          <a:noFill/>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1048703" name="TextBox 4"/>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553</Words>
  <Application>Microsoft Office PowerPoint</Application>
  <PresentationFormat>On-screen Show (16:9)</PresentationFormat>
  <Paragraphs>74</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creator>PptxGenJS</dc:creator>
  <cp:lastModifiedBy>farhanshaikh2199@gmail.com</cp:lastModifiedBy>
  <cp:revision>5</cp:revision>
  <dcterms:created xsi:type="dcterms:W3CDTF">2026-02-17T11:17:23Z</dcterms:created>
  <dcterms:modified xsi:type="dcterms:W3CDTF">2026-04-16T12:13:15Z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y fmtid="{D5CDD505-2E9C-101B-9397-08002B2CF9AE}" pid="4" name="ICV">
    <vt:lpwstr>a312861e0daf4f7d95ec15d7093a2c7f</vt:lpwstr>
  </property>
</Properties>
</file>